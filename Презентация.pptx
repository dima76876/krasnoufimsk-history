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IBM Plex Mono" panose="020B0509050203000203" pitchFamily="49" charset="-52"/>
      <p:regular r:id="rId13"/>
    </p:embeddedFont>
    <p:embeddedFont>
      <p:font typeface="IBM Plex Mono Medium" panose="020B0609050203000203" pitchFamily="49" charset="-52"/>
      <p:regular r:id="rId14"/>
    </p:embeddedFont>
    <p:embeddedFont>
      <p:font typeface="IBM Plex Mono SemiBold" panose="020B0709050203000203" pitchFamily="49" charset="-52"/>
      <p:regular r:id="rId15"/>
      <p:bold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1904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hyperlink" Target="https://gamma.app/?utm_source=made-with-gamma" TargetMode="Externa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1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2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1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0" y="12700"/>
            <a:ext cx="12166296" cy="6832600"/>
          </a:xfrm>
          <a:prstGeom prst="rect">
            <a:avLst/>
          </a:prstGeom>
        </p:spPr>
      </p:pic>
      <p:pic>
        <p:nvPicPr>
          <p:cNvPr id="6" name="Image 3" descr="preencoded.png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1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99" y="25400"/>
            <a:ext cx="12140896" cy="6807200"/>
          </a:xfrm>
          <a:prstGeom prst="rect">
            <a:avLst/>
          </a:prstGeom>
        </p:spPr>
      </p:pic>
      <p:pic>
        <p:nvPicPr>
          <p:cNvPr id="6" name="Image 3" descr="preencoded.png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1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0" y="12700"/>
            <a:ext cx="12166296" cy="6832600"/>
          </a:xfrm>
          <a:prstGeom prst="rect">
            <a:avLst/>
          </a:prstGeom>
        </p:spPr>
      </p:pic>
      <p:pic>
        <p:nvPicPr>
          <p:cNvPr id="6" name="Image 3" descr="preencoded.png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1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99" y="25400"/>
            <a:ext cx="12140896" cy="6807200"/>
          </a:xfrm>
          <a:prstGeom prst="rect">
            <a:avLst/>
          </a:prstGeom>
        </p:spPr>
      </p:pic>
      <p:pic>
        <p:nvPicPr>
          <p:cNvPr id="6" name="Image 3" descr="preencoded.png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7" Type="http://schemas.openxmlformats.org/officeDocument/2006/relationships/hyperlink" Target="https://dima76876.github.io/krasnoufimsk-history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8.png"/><Relationship Id="rId4" Type="http://schemas.openxmlformats.org/officeDocument/2006/relationships/image" Target="../media/image1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22.png"/><Relationship Id="rId4" Type="http://schemas.openxmlformats.org/officeDocument/2006/relationships/image" Target="../media/image2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ima76876.github.io/krasnoufimsk-history/" TargetMode="External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399" y="25400"/>
            <a:ext cx="12140896" cy="1323975"/>
          </a:xfrm>
          <a:prstGeom prst="rect">
            <a:avLst/>
          </a:prstGeom>
          <a:solidFill>
            <a:srgbClr val="1723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11182" y="584200"/>
            <a:ext cx="3124221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0432690" y="584200"/>
            <a:ext cx="1505012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endParaRPr lang="en-US" sz="1250" dirty="0"/>
          </a:p>
        </p:txBody>
      </p:sp>
      <p:pic>
        <p:nvPicPr>
          <p:cNvPr id="5" name="Image 0" descr="preencod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99" y="687387"/>
            <a:ext cx="12140896" cy="46926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55896" y="1043710"/>
            <a:ext cx="1183610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0" spc="100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ИНДИВИДУАЛЬНЫЙ ИТОГОВЫЙ ПРОЕКТ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330192" y="1598471"/>
            <a:ext cx="11531312" cy="1591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800" kern="0" spc="-70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«РАЗРАБОТКА ИНТЕРАКТИВНОГО ИСТОРИКО-КРАЕВЕДЧЕСКОГО ВЕБ-РЕСУРСА «КРАСНОУФИМСК: ЖИВАЯ ИСТОРИЯ» С ИСПОЛЬЗОВАНИЕМ ПЕРЕДОВЫХ ВЕБ-ТЕХНОЛОГИЙ»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330192" y="3267571"/>
            <a:ext cx="4310174" cy="102293"/>
          </a:xfrm>
          <a:prstGeom prst="roundRect">
            <a:avLst>
              <a:gd name="adj" fmla="val 49998"/>
            </a:avLst>
          </a:prstGeom>
          <a:solidFill>
            <a:srgbClr val="2E6D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330192" y="3567026"/>
            <a:ext cx="3805142" cy="280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Автор проекта: Ужегов Дмитрий.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30192" y="4158922"/>
            <a:ext cx="4310174" cy="709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dirty="0" err="1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Руководитель</a:t>
            </a:r>
            <a:r>
              <a:rPr lang="en-US" sz="160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 учитель информатики Хузин Руслан Илдарович.</a:t>
            </a:r>
            <a:endParaRPr lang="en-US" sz="16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99" y="5483225"/>
            <a:ext cx="12140896" cy="13493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3882" y="6054725"/>
            <a:ext cx="2457488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9400374" y="6054725"/>
            <a:ext cx="2524627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endParaRPr lang="en-US" sz="1250" dirty="0"/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776AFB40-FF0B-AC2D-CF89-4F0211DFBD07}"/>
              </a:ext>
            </a:extLst>
          </p:cNvPr>
          <p:cNvSpPr/>
          <p:nvPr/>
        </p:nvSpPr>
        <p:spPr>
          <a:xfrm>
            <a:off x="5751320" y="3219502"/>
            <a:ext cx="6186382" cy="102293"/>
          </a:xfrm>
          <a:prstGeom prst="roundRect">
            <a:avLst>
              <a:gd name="adj" fmla="val 49998"/>
            </a:avLst>
          </a:prstGeom>
          <a:solidFill>
            <a:srgbClr val="2E6D3F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" name="Image 1" descr="preencoded.png">
            <a:extLst>
              <a:ext uri="{FF2B5EF4-FFF2-40B4-BE49-F238E27FC236}">
                <a16:creationId xmlns:a16="http://schemas.microsoft.com/office/drawing/2014/main" id="{A36AC103-6E43-BA69-D614-648F0F128B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5699" y="3429000"/>
            <a:ext cx="1755937" cy="175598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30F20EC-300A-CDD5-45BE-D30F5DECBC5D}"/>
              </a:ext>
            </a:extLst>
          </p:cNvPr>
          <p:cNvSpPr txBox="1"/>
          <p:nvPr/>
        </p:nvSpPr>
        <p:spPr>
          <a:xfrm>
            <a:off x="7631395" y="3536938"/>
            <a:ext cx="42301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Mona Sans VF"/>
              </a:rPr>
              <a:t>Прямая ссылка на сайт: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b="1" dirty="0">
              <a:solidFill>
                <a:schemeClr val="accent6">
                  <a:lumMod val="40000"/>
                  <a:lumOff val="60000"/>
                </a:schemeClr>
              </a:solidFill>
              <a:latin typeface="Mona Sans VF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ru-RU" b="1" i="0" dirty="0">
              <a:solidFill>
                <a:schemeClr val="accent6">
                  <a:lumMod val="40000"/>
                  <a:lumOff val="60000"/>
                </a:schemeClr>
              </a:solidFill>
              <a:effectLst/>
              <a:latin typeface="Mona Sans VF"/>
            </a:endParaRPr>
          </a:p>
          <a:p>
            <a:pPr algn="l"/>
            <a:r>
              <a:rPr lang="ru-RU" b="0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Mona Sans VF"/>
              </a:rPr>
              <a:t> </a:t>
            </a:r>
            <a:r>
              <a:rPr lang="en-US" b="0" i="0" u="sng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Mona Sans VF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dima76876.github.io/</a:t>
            </a:r>
            <a:r>
              <a:rPr lang="en-US" b="0" i="0" u="sng" dirty="0" err="1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Mona Sans VF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krasnoufimsk</a:t>
            </a:r>
            <a:r>
              <a:rPr lang="en-US" b="0" i="0" u="sng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Mona Sans VF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-history</a:t>
            </a:r>
            <a:endParaRPr lang="en-US" b="0" i="0" dirty="0">
              <a:solidFill>
                <a:schemeClr val="accent6">
                  <a:lumMod val="40000"/>
                  <a:lumOff val="60000"/>
                </a:schemeClr>
              </a:solidFill>
              <a:effectLst/>
              <a:latin typeface="Mona Sans VF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1" descr="preencoded.png">
            <a:extLst>
              <a:ext uri="{FF2B5EF4-FFF2-40B4-BE49-F238E27FC236}">
                <a16:creationId xmlns:a16="http://schemas.microsoft.com/office/drawing/2014/main" id="{A73251A8-452E-9248-4340-A028EF7D5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41" y="1701899"/>
            <a:ext cx="5606910" cy="2867422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336542" y="336550"/>
            <a:ext cx="11518612" cy="358775"/>
          </a:xfrm>
          <a:prstGeom prst="rect">
            <a:avLst/>
          </a:prstGeom>
          <a:noFill/>
          <a:ln/>
        </p:spPr>
        <p:txBody>
          <a:bodyPr wrap="square" lIns="101598" tIns="63498" rIns="101598" bIns="6349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0" spc="50" dirty="0">
                <a:solidFill>
                  <a:srgbClr val="6AA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ПРОБЛЕМА — /АКТУАЛЬНОСТЬ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336542" y="1031875"/>
            <a:ext cx="11518612" cy="492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800" kern="0" spc="-95" dirty="0">
                <a:solidFill>
                  <a:srgbClr val="D7FFE0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ПРОБЛЕМА И АКТУАЛЬНОСТЬ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590535" y="1974949"/>
            <a:ext cx="5352916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0" spc="100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АУДИТОРИЯ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90535" y="2287687"/>
            <a:ext cx="5098922" cy="1123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Бумажные путеводители устарели и не интересны молодежи.</a:t>
            </a:r>
            <a:endParaRPr lang="en-US" sz="16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244" y="1720949"/>
            <a:ext cx="5606910" cy="286742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02237" y="1974949"/>
            <a:ext cx="5352916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0" spc="100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ФОРМАТ ИНФОРМАЦИИ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502237" y="2287687"/>
            <a:ext cx="5098922" cy="561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Требуется быстрый, визуальный и интерактивный формат.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6502237" y="3014365"/>
            <a:ext cx="5098823" cy="31651"/>
          </a:xfrm>
          <a:prstGeom prst="roundRect">
            <a:avLst>
              <a:gd name="adj" fmla="val 49998"/>
            </a:avLst>
          </a:prstGeom>
          <a:solidFill>
            <a:srgbClr val="2E6D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6502237" y="3211215"/>
            <a:ext cx="5098922" cy="1123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Существующие сайты работают медленно и не адаптированы под смартфоны.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336542" y="4766171"/>
            <a:ext cx="11842454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endParaRPr lang="en-US" sz="1250" dirty="0"/>
          </a:p>
        </p:txBody>
      </p:sp>
      <p:pic>
        <p:nvPicPr>
          <p:cNvPr id="14" name="Image 2" descr="preencoded.png">
            <a:extLst>
              <a:ext uri="{FF2B5EF4-FFF2-40B4-BE49-F238E27FC236}">
                <a16:creationId xmlns:a16="http://schemas.microsoft.com/office/drawing/2014/main" id="{491C3F56-8931-3945-F82F-4CB71CE45A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99" y="5722640"/>
            <a:ext cx="12140896" cy="1146175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9241" y="349250"/>
            <a:ext cx="11493212" cy="358775"/>
          </a:xfrm>
          <a:prstGeom prst="rect">
            <a:avLst/>
          </a:prstGeom>
          <a:noFill/>
          <a:ln/>
        </p:spPr>
        <p:txBody>
          <a:bodyPr wrap="square" lIns="101598" tIns="63498" rIns="101598" bIns="6349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0" spc="50" dirty="0">
                <a:solidFill>
                  <a:srgbClr val="6AA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ЦЕЛЬ — /ПУТЕВОДИТЕЛЬ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349241" y="885825"/>
            <a:ext cx="1181705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0" spc="100" dirty="0">
                <a:solidFill>
                  <a:srgbClr val="6AA978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ЦЕЛЬ И ЗАДАЧИ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49241" y="1262062"/>
            <a:ext cx="11493212" cy="2882647"/>
          </a:xfrm>
          <a:prstGeom prst="rect">
            <a:avLst/>
          </a:prstGeom>
          <a:noFill/>
          <a:ln w="12700">
            <a:solidFill>
              <a:srgbClr val="2E6D3F"/>
            </a:solidFill>
            <a:prstDash val="solid"/>
          </a:ln>
          <a:effectLst>
            <a:outerShdw blurRad="201930" dist="127" dir="16200000" algn="bl" rotWithShape="0">
              <a:srgbClr val="33FF66">
                <a:alpha val="1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41" y="1274763"/>
            <a:ext cx="2866953" cy="286994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0535" y="1503363"/>
            <a:ext cx="2638359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0" spc="100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ЦЕЛЬ</a:t>
            </a:r>
            <a:r>
              <a:rPr lang="ru-RU" sz="1250" kern="0" spc="100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 И ЗАДАЧИ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3559086" y="1604963"/>
            <a:ext cx="7940476" cy="21577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🎯 Основная цель:
Создать современный, быстрый цифровой IT-продукт для популяризации краеведения.
🛠 Ключевые задачи:
• Разработать интерактивный интерфейс
• Обеспечить мгновенную загрузку (SPA)
• Внедрить игровые механики и API погоды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349241" y="3481973"/>
            <a:ext cx="11817054" cy="280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endParaRPr lang="en-US" sz="1650" dirty="0"/>
          </a:p>
        </p:txBody>
      </p:sp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5944E0B2-C55E-9DE3-2758-792006AB43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99" y="5722640"/>
            <a:ext cx="12140896" cy="1146175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1142" y="311150"/>
            <a:ext cx="11569411" cy="358775"/>
          </a:xfrm>
          <a:prstGeom prst="rect">
            <a:avLst/>
          </a:prstGeom>
          <a:noFill/>
          <a:ln/>
        </p:spPr>
        <p:txBody>
          <a:bodyPr wrap="square" lIns="101598" tIns="63498" rIns="101598" bIns="6349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0" spc="50" dirty="0">
                <a:solidFill>
                  <a:srgbClr val="6AA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TECH.STACK — /IMPLEMENTATION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311142" y="1006475"/>
            <a:ext cx="11569411" cy="492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800" kern="0" spc="-95" dirty="0">
                <a:solidFill>
                  <a:srgbClr val="D7FFE0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ТЕХНОЛОГИЧЕСКИЙ СТЕК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11142" y="1695549"/>
            <a:ext cx="11867853" cy="280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Перейдем к технической реализации.</a:t>
            </a:r>
            <a:endParaRPr lang="en-US" sz="16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142" y="2154138"/>
            <a:ext cx="5632309" cy="18422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4337" y="2357338"/>
            <a:ext cx="542911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0" spc="100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ОТКАЗ ОТ КОНСТРУКТОРОВ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14337" y="2670076"/>
            <a:ext cx="5225919" cy="8423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Полный отказ от конструкторов (Tilda, Wix) и тяжелых фреймворков.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6248244" y="2154138"/>
            <a:ext cx="5632309" cy="1842294"/>
          </a:xfrm>
          <a:prstGeom prst="rect">
            <a:avLst/>
          </a:prstGeom>
          <a:solidFill>
            <a:srgbClr val="07110C"/>
          </a:solidFill>
          <a:ln/>
          <a:effectLst>
            <a:outerShdw blurRad="201930" dist="127" dir="16200000" algn="bl" rotWithShape="0">
              <a:srgbClr val="33FF66">
                <a:alpha val="1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244" y="2154138"/>
            <a:ext cx="5632309" cy="184229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51439" y="2357338"/>
            <a:ext cx="542911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0" spc="100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С НУЛЯ · ZERO-DEPENDENCY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451439" y="2670076"/>
            <a:ext cx="5225919" cy="1123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Написано с нуля: HTML5, CSS3, Vanilla JavaScript.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311142" y="4174233"/>
            <a:ext cx="11569411" cy="1440656"/>
          </a:xfrm>
          <a:prstGeom prst="rect">
            <a:avLst/>
          </a:prstGeom>
          <a:solidFill>
            <a:srgbClr val="223128"/>
          </a:solidFill>
          <a:ln/>
          <a:effectLst>
            <a:outerShdw blurRad="127" dist="24130" dir="5400000" algn="bl" rotWithShape="0">
              <a:srgbClr val="D8FFDE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142" y="4174233"/>
            <a:ext cx="11569411" cy="14406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6238" y="4339332"/>
            <a:ext cx="292598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0" spc="100" dirty="0">
                <a:solidFill>
                  <a:srgbClr val="6AA978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АРХИТЕКТУРА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3554621" y="4339332"/>
            <a:ext cx="8160836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9FF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Single Page Application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3554621" y="4863207"/>
            <a:ext cx="8160836" cy="1123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50" kern="0" spc="66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Архитектура SPA (Single Page Application) для мгновенной загрузки.</a:t>
            </a:r>
            <a:endParaRPr lang="en-US" sz="1650" dirty="0"/>
          </a:p>
        </p:txBody>
      </p:sp>
      <p:pic>
        <p:nvPicPr>
          <p:cNvPr id="17" name="Image 2" descr="preencoded.png">
            <a:extLst>
              <a:ext uri="{FF2B5EF4-FFF2-40B4-BE49-F238E27FC236}">
                <a16:creationId xmlns:a16="http://schemas.microsoft.com/office/drawing/2014/main" id="{BF6C68FA-A54A-4C05-E32A-CBB0AA4C33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99" y="5722640"/>
            <a:ext cx="12140896" cy="1146175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1" descr="preencoded.png">
            <a:extLst>
              <a:ext uri="{FF2B5EF4-FFF2-40B4-BE49-F238E27FC236}">
                <a16:creationId xmlns:a16="http://schemas.microsoft.com/office/drawing/2014/main" id="{25E0E7E0-BEE9-C58F-69C6-A3ED8ED34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42" y="1695549"/>
            <a:ext cx="5632309" cy="3275211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311142" y="311150"/>
            <a:ext cx="11569411" cy="358775"/>
          </a:xfrm>
          <a:prstGeom prst="rect">
            <a:avLst/>
          </a:prstGeom>
          <a:noFill/>
          <a:ln/>
        </p:spPr>
        <p:txBody>
          <a:bodyPr wrap="square" lIns="101598" tIns="63498" rIns="101598" bIns="6349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0" spc="50" dirty="0">
                <a:solidFill>
                  <a:srgbClr val="6AA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INTERFACE — /DESIGN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311142" y="1006475"/>
            <a:ext cx="11569411" cy="492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800" kern="0" spc="-95" dirty="0">
                <a:solidFill>
                  <a:srgbClr val="D7FFE0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ДИЗАЙН И ИНТЕРФЕЙС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565136" y="1949549"/>
            <a:ext cx="5378315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0" spc="100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ВИЗУАЛЬНЫЙ СТИЛЬ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65136" y="2227362"/>
            <a:ext cx="512432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9FF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Glassmorphism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65136" y="2751237"/>
            <a:ext cx="5124322" cy="8423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Использование трендового эффекта Glassmorphism (матовое стекло).</a:t>
            </a:r>
            <a:endParaRPr lang="en-US" sz="16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244" y="1695549"/>
            <a:ext cx="5632309" cy="327521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02237" y="1949549"/>
            <a:ext cx="5378315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0" spc="100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АНИМАЦИИ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502237" y="2227362"/>
            <a:ext cx="512432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B8F7C2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Scroll Reveal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6502237" y="2751237"/>
            <a:ext cx="5124322" cy="1965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Аппаратное GPU-ускорение (60 FPS) для анимаций (Scroll Reveal).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311142" y="5148560"/>
            <a:ext cx="11867853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endParaRPr lang="en-US" sz="1250" dirty="0"/>
          </a:p>
        </p:txBody>
      </p:sp>
      <p:pic>
        <p:nvPicPr>
          <p:cNvPr id="14" name="Image 2" descr="preencoded.png">
            <a:extLst>
              <a:ext uri="{FF2B5EF4-FFF2-40B4-BE49-F238E27FC236}">
                <a16:creationId xmlns:a16="http://schemas.microsoft.com/office/drawing/2014/main" id="{204C8373-1F1B-1513-8D1B-75C3F6D9DC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99" y="5722640"/>
            <a:ext cx="12140896" cy="1146175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3842" y="323850"/>
            <a:ext cx="11544011" cy="358775"/>
          </a:xfrm>
          <a:prstGeom prst="rect">
            <a:avLst/>
          </a:prstGeom>
          <a:noFill/>
          <a:ln/>
        </p:spPr>
        <p:txBody>
          <a:bodyPr wrap="square" lIns="101598" tIns="63498" rIns="101598" bIns="6349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0" spc="50" dirty="0">
                <a:solidFill>
                  <a:srgbClr val="6AA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WEATHER.API — /KRASNOUFIMSK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323842" y="1019175"/>
            <a:ext cx="11544011" cy="492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800" kern="0" spc="-95" dirty="0">
                <a:solidFill>
                  <a:srgbClr val="D7FFE0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ИНТЕГРАЦИЯ API ПОГОДЫ</a:t>
            </a:r>
            <a:endParaRPr lang="en-US" sz="3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42" y="1720949"/>
            <a:ext cx="3737874" cy="21230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9736" y="1924149"/>
            <a:ext cx="3534679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0" spc="100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ДЛЯ ТУРИСТОВ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39736" y="2236887"/>
            <a:ext cx="3331484" cy="1403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Интерактивный погодный информер для туристов.</a:t>
            </a:r>
            <a:endParaRPr lang="en-US" sz="16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9208" y="1720949"/>
            <a:ext cx="7475946" cy="212308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82403" y="1924149"/>
            <a:ext cx="727275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0" spc="100" dirty="0">
                <a:solidFill>
                  <a:srgbClr val="6AA978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ЗАПРОС → ПРОГНОЗ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582403" y="2236887"/>
            <a:ext cx="7069556" cy="1123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Асинхронные JavaScript-запросы к спутнику MET Norway в реальном времени.</a:t>
            </a:r>
            <a:endParaRPr lang="en-US" sz="16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842" y="4034532"/>
            <a:ext cx="11544011" cy="89177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8938" y="4199632"/>
            <a:ext cx="8910018" cy="561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Улучшение пользовательского опыта (UX) при построении маршрута.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9703748" y="4199632"/>
            <a:ext cx="2151306" cy="280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[LIVE]</a:t>
            </a:r>
            <a:endParaRPr lang="en-US" sz="1650" dirty="0"/>
          </a:p>
        </p:txBody>
      </p:sp>
      <p:pic>
        <p:nvPicPr>
          <p:cNvPr id="15" name="Image 2" descr="preencoded.png">
            <a:extLst>
              <a:ext uri="{FF2B5EF4-FFF2-40B4-BE49-F238E27FC236}">
                <a16:creationId xmlns:a16="http://schemas.microsoft.com/office/drawing/2014/main" id="{2D31CF4A-C380-3076-E3A4-40F04EAF38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99" y="5722640"/>
            <a:ext cx="12140896" cy="1146175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C6B9C3EA-4C08-10F3-90E6-4978C59BE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069" y="2185888"/>
            <a:ext cx="5619609" cy="2101255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323842" y="323850"/>
            <a:ext cx="11544011" cy="358775"/>
          </a:xfrm>
          <a:prstGeom prst="rect">
            <a:avLst/>
          </a:prstGeom>
          <a:noFill/>
          <a:ln/>
        </p:spPr>
        <p:txBody>
          <a:bodyPr wrap="square" lIns="101598" tIns="63498" rIns="101598" bIns="6349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0" spc="50" dirty="0">
                <a:solidFill>
                  <a:srgbClr val="6AA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QUIZ.STATE — /HISTORY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323842" y="1019175"/>
            <a:ext cx="11544011" cy="492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800" kern="0" spc="-95" dirty="0">
                <a:solidFill>
                  <a:srgbClr val="D7FFE0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ИНТЕРАКТИВНАЯ ВИКТОРИНА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23842" y="1708249"/>
            <a:ext cx="11842454" cy="280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Интерактивный модуль тестирования с двуязычной поддержкой (RU/EN).</a:t>
            </a:r>
            <a:endParaRPr lang="en-US" sz="16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42" y="2166838"/>
            <a:ext cx="5619609" cy="21012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2436" y="2395438"/>
            <a:ext cx="5391015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0" spc="100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ПРИ КАЖДОМ ЗАПУСКЕ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52436" y="2708176"/>
            <a:ext cx="5162421" cy="1123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Алгоритм тасования Фишера-Йетса для защиты от заучивания.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6476838" y="2395438"/>
            <a:ext cx="5391015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0" spc="100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СОСТОЯНИЕ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476838" y="2673251"/>
            <a:ext cx="516242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9FF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MVC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6476838" y="3197126"/>
            <a:ext cx="5162421" cy="8423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Управление состоянием (State Management) прямо в браузере (MVC).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323842" y="4445893"/>
            <a:ext cx="11842454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endParaRPr lang="en-US" sz="1250" dirty="0"/>
          </a:p>
        </p:txBody>
      </p:sp>
      <p:pic>
        <p:nvPicPr>
          <p:cNvPr id="14" name="Image 2" descr="preencoded.png">
            <a:extLst>
              <a:ext uri="{FF2B5EF4-FFF2-40B4-BE49-F238E27FC236}">
                <a16:creationId xmlns:a16="http://schemas.microsoft.com/office/drawing/2014/main" id="{28D54616-7FFC-C9AE-F9B9-6CA49FFDDD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99" y="5722640"/>
            <a:ext cx="12140896" cy="1146175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02B2898E-CD94-A1EC-0D69-EEBB4F88E7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7311" y="1696161"/>
            <a:ext cx="3653242" cy="296545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311142" y="311150"/>
            <a:ext cx="11569411" cy="358775"/>
          </a:xfrm>
          <a:prstGeom prst="rect">
            <a:avLst/>
          </a:prstGeom>
          <a:noFill/>
          <a:ln/>
        </p:spPr>
        <p:txBody>
          <a:bodyPr wrap="square" lIns="101598" tIns="63498" rIns="101598" bIns="6349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0" spc="50" dirty="0">
                <a:solidFill>
                  <a:srgbClr val="6AA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CERTIFICATE — /CANVAS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311142" y="1006475"/>
            <a:ext cx="11569411" cy="492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800" kern="0" spc="-95" dirty="0">
                <a:solidFill>
                  <a:srgbClr val="D7FFE0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ГЕНЕРАЦИЯ СЕРТИФИКАТА</a:t>
            </a:r>
            <a:endParaRPr lang="en-US" sz="3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142" y="1695549"/>
            <a:ext cx="3653242" cy="29654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14337" y="1898749"/>
            <a:ext cx="345004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0" spc="100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УСПЕШНОЕ ЗАВЕРШЕНИЕ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14337" y="2211487"/>
            <a:ext cx="3246852" cy="1123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Автоматическая выдача диплома при успешном прохождении.</a:t>
            </a:r>
            <a:endParaRPr lang="en-US" sz="16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9177" y="1695549"/>
            <a:ext cx="3653242" cy="2965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72372" y="1898749"/>
            <a:ext cx="345004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0" spc="100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ЗАЩИТА ВВОДА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472372" y="2211487"/>
            <a:ext cx="3246852" cy="1123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Защита от хакерских XSS-атак путем строгой санитизации ввода.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8430406" y="1898749"/>
            <a:ext cx="345004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0" spc="100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CANVAS 2D API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8430406" y="2211487"/>
            <a:ext cx="3246852" cy="2246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Отрисовка именного диплома «на лету» с помощью Canvas 2D API.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311142" y="4838799"/>
            <a:ext cx="11867853" cy="280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endParaRPr lang="en-US" sz="1650" dirty="0"/>
          </a:p>
        </p:txBody>
      </p:sp>
      <p:pic>
        <p:nvPicPr>
          <p:cNvPr id="15" name="Image 2" descr="preencoded.png">
            <a:extLst>
              <a:ext uri="{FF2B5EF4-FFF2-40B4-BE49-F238E27FC236}">
                <a16:creationId xmlns:a16="http://schemas.microsoft.com/office/drawing/2014/main" id="{4D86C9D4-831B-76B6-50E0-4AF1A1F4A0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99" y="5722640"/>
            <a:ext cx="12140896" cy="1146175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3842" y="323850"/>
            <a:ext cx="11544011" cy="358775"/>
          </a:xfrm>
          <a:prstGeom prst="rect">
            <a:avLst/>
          </a:prstGeom>
          <a:noFill/>
          <a:ln/>
        </p:spPr>
        <p:txBody>
          <a:bodyPr wrap="square" lIns="101598" tIns="63498" rIns="101598" bIns="6349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0" spc="50" dirty="0">
                <a:solidFill>
                  <a:srgbClr val="6AA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DEPLOYMENT — /ECONOMICS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323842" y="1019175"/>
            <a:ext cx="11544011" cy="492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800" kern="0" spc="-95" dirty="0">
                <a:solidFill>
                  <a:srgbClr val="D7FFE0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ЭКОНОМИКА И РАЗВЕРТЫВАНИЕ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23842" y="1708249"/>
            <a:ext cx="11842454" cy="280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Экономическая выгода проекта:</a:t>
            </a:r>
            <a:endParaRPr lang="en-US" sz="16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3842" y="2166838"/>
          <a:ext cx="11544012" cy="2010716"/>
        </p:xfrm>
        <a:graphic>
          <a:graphicData uri="http://schemas.openxmlformats.org/drawingml/2006/table">
            <a:tbl>
              <a:tblPr/>
              <a:tblGrid>
                <a:gridCol w="57720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2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74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kern="0" spc="132" dirty="0">
                          <a:solidFill>
                            <a:srgbClr val="D7FFE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ЗАКАЗ У IT-СТУДИИ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kern="0" spc="132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МОЙ ПРОЕКТ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82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Заказ аналогичного проекта у IT-студии обошелся бы примерно в 120 000 рублей.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 рублей</a:t>
                      </a:r>
                      <a:endParaRPr lang="en-US" sz="24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1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49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120 000 рублей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 рублей</a:t>
                      </a:r>
                      <a:endParaRPr lang="en-US" sz="24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23842" y="4406205"/>
            <a:ext cx="11842454" cy="280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Затраты на разработку: 0 рублей.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323842" y="4915595"/>
            <a:ext cx="11544011" cy="31651"/>
          </a:xfrm>
          <a:prstGeom prst="roundRect">
            <a:avLst>
              <a:gd name="adj" fmla="val 49998"/>
            </a:avLst>
          </a:prstGeom>
          <a:solidFill>
            <a:srgbClr val="2E6D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323842" y="5175945"/>
            <a:ext cx="11544011" cy="546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Бессерверный хостинг на GitHub Pages с использованием CDN (доступно 24/7).</a:t>
            </a:r>
            <a:endParaRPr lang="en-US" sz="1650" dirty="0"/>
          </a:p>
        </p:txBody>
      </p:sp>
      <p:pic>
        <p:nvPicPr>
          <p:cNvPr id="5" name="Image 2" descr="preencoded.png">
            <a:extLst>
              <a:ext uri="{FF2B5EF4-FFF2-40B4-BE49-F238E27FC236}">
                <a16:creationId xmlns:a16="http://schemas.microsoft.com/office/drawing/2014/main" id="{9A2790D6-9BBB-C5B5-0C22-BBB51F3E54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" y="5722640"/>
            <a:ext cx="12140896" cy="1146175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399" y="25400"/>
            <a:ext cx="12140896" cy="1323975"/>
          </a:xfrm>
          <a:prstGeom prst="rect">
            <a:avLst/>
          </a:prstGeom>
          <a:solidFill>
            <a:srgbClr val="1723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85783" y="584200"/>
            <a:ext cx="236224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1124822" y="584200"/>
            <a:ext cx="838278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endParaRPr lang="en-US" sz="1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9" y="1349375"/>
            <a:ext cx="12140896" cy="43732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3195" y="1527175"/>
            <a:ext cx="11785305" cy="492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800" kern="0" spc="-95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ЗАКЛЮЧЕНИЕ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03195" y="2216249"/>
            <a:ext cx="8036319" cy="287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spcAft>
                <a:spcPts val="850"/>
              </a:spcAft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Цель полностью достигнута: создан масштабируемый IT-продукт.</a:t>
            </a:r>
            <a:endParaRPr lang="en-US" sz="1650" dirty="0"/>
          </a:p>
          <a:p>
            <a:pPr marL="0" indent="0" algn="l">
              <a:lnSpc>
                <a:spcPct val="112000"/>
              </a:lnSpc>
              <a:spcAft>
                <a:spcPts val="850"/>
              </a:spcAft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Проект готов к реальному использованию в образовательных целях.</a:t>
            </a:r>
            <a:endParaRPr lang="en-US" sz="1650" dirty="0"/>
          </a:p>
          <a:p>
            <a:pPr marL="0" indent="0" algn="l">
              <a:lnSpc>
                <a:spcPct val="112000"/>
              </a:lnSpc>
              <a:spcAft>
                <a:spcPts val="850"/>
              </a:spcAft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Перспективы: превращение в мобильное PWA-приложение (офлайн доступ).</a:t>
            </a:r>
            <a:endParaRPr lang="en-US" sz="16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Спасибо за внимание! Готов ответить на ваши вопросы.</a:t>
            </a:r>
            <a:endParaRPr lang="en-US" sz="16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5379" y="2103250"/>
            <a:ext cx="1899443" cy="189949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03195" y="5264051"/>
            <a:ext cx="11963101" cy="280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endParaRPr lang="en-US" sz="16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99" y="5722640"/>
            <a:ext cx="12140896" cy="11461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98483" y="6192540"/>
            <a:ext cx="2743231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8921428" y="6192540"/>
            <a:ext cx="3028973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endParaRPr lang="en-US" sz="1250" dirty="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05485276-75D1-D5CA-5F10-7497473AD945}"/>
              </a:ext>
            </a:extLst>
          </p:cNvPr>
          <p:cNvSpPr/>
          <p:nvPr/>
        </p:nvSpPr>
        <p:spPr>
          <a:xfrm>
            <a:off x="8193691" y="2019399"/>
            <a:ext cx="80006" cy="3244652"/>
          </a:xfrm>
          <a:prstGeom prst="roundRect">
            <a:avLst>
              <a:gd name="adj" fmla="val 49998"/>
            </a:avLst>
          </a:prstGeom>
          <a:solidFill>
            <a:srgbClr val="2E6D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6B8028-C467-FC5E-D449-DA3891D25F55}"/>
              </a:ext>
            </a:extLst>
          </p:cNvPr>
          <p:cNvSpPr txBox="1"/>
          <p:nvPr/>
        </p:nvSpPr>
        <p:spPr>
          <a:xfrm>
            <a:off x="8321749" y="4168632"/>
            <a:ext cx="386056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Mona Sans VF"/>
              </a:rPr>
              <a:t>Прямая ссылка на сайт:</a:t>
            </a:r>
          </a:p>
          <a:p>
            <a:pPr algn="l"/>
            <a:r>
              <a:rPr lang="ru-RU" b="0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Mona Sans VF"/>
              </a:rPr>
              <a:t> </a:t>
            </a:r>
            <a:r>
              <a:rPr lang="en-US" b="0" i="0" u="sng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Mona Sans VF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dima76876.github.io/</a:t>
            </a:r>
            <a:r>
              <a:rPr lang="en-US" b="0" i="0" u="sng" dirty="0" err="1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Mona Sans VF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krasnoufimsk</a:t>
            </a:r>
            <a:r>
              <a:rPr lang="en-US" b="0" i="0" u="sng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Mona Sans VF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-history</a:t>
            </a:r>
            <a:endParaRPr lang="en-US" b="0" i="0" dirty="0">
              <a:solidFill>
                <a:schemeClr val="accent6">
                  <a:lumMod val="40000"/>
                  <a:lumOff val="60000"/>
                </a:schemeClr>
              </a:solidFill>
              <a:effectLst/>
              <a:latin typeface="Mona Sans VF"/>
            </a:endParaRP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471</Words>
  <Application>Microsoft Office PowerPoint</Application>
  <PresentationFormat>Широкоэкранный</PresentationFormat>
  <Paragraphs>89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IBM Plex Mono</vt:lpstr>
      <vt:lpstr>Mona Sans VF</vt:lpstr>
      <vt:lpstr>Arial</vt:lpstr>
      <vt:lpstr>IBM Plex Mono Medium</vt:lpstr>
      <vt:lpstr>IBM Plex Mono SemiBold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Дима Ужегов</cp:lastModifiedBy>
  <cp:revision>7</cp:revision>
  <dcterms:created xsi:type="dcterms:W3CDTF">2026-09-27T07:28:48Z</dcterms:created>
  <dcterms:modified xsi:type="dcterms:W3CDTF">2026-09-27T07:58:05Z</dcterms:modified>
</cp:coreProperties>
</file>